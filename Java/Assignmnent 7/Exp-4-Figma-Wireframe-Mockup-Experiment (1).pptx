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3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640080"/>
            <a:ext cx="566928" cy="566928"/>
          </a:xfrm>
          <a:prstGeom prst="ellipse">
            <a:avLst/>
          </a:prstGeom>
          <a:solidFill>
            <a:srgbClr val="FF7262"/>
          </a:solidFill>
          <a:ln/>
        </p:spPr>
      </p:sp>
      <p:sp>
        <p:nvSpPr>
          <p:cNvPr id="3" name="Shape 1"/>
          <p:cNvSpPr/>
          <p:nvPr/>
        </p:nvSpPr>
        <p:spPr>
          <a:xfrm>
            <a:off x="10378440" y="640080"/>
            <a:ext cx="566928" cy="566928"/>
          </a:xfrm>
          <a:prstGeom prst="ellipse">
            <a:avLst/>
          </a:prstGeom>
          <a:solidFill>
            <a:srgbClr val="1ABCFE"/>
          </a:solidFill>
          <a:ln/>
        </p:spPr>
      </p:sp>
      <p:sp>
        <p:nvSpPr>
          <p:cNvPr id="4" name="Shape 2"/>
          <p:cNvSpPr/>
          <p:nvPr/>
        </p:nvSpPr>
        <p:spPr>
          <a:xfrm>
            <a:off x="9692640" y="1298448"/>
            <a:ext cx="566928" cy="566928"/>
          </a:xfrm>
          <a:prstGeom prst="ellipse">
            <a:avLst/>
          </a:prstGeom>
          <a:solidFill>
            <a:srgbClr val="0ACF83"/>
          </a:solidFill>
          <a:ln/>
        </p:spPr>
      </p:sp>
      <p:sp>
        <p:nvSpPr>
          <p:cNvPr id="5" name="Shape 3"/>
          <p:cNvSpPr/>
          <p:nvPr/>
        </p:nvSpPr>
        <p:spPr>
          <a:xfrm>
            <a:off x="10378440" y="1298448"/>
            <a:ext cx="566928" cy="566928"/>
          </a:xfrm>
          <a:prstGeom prst="ellipse">
            <a:avLst/>
          </a:prstGeom>
          <a:solidFill>
            <a:srgbClr val="A259FF"/>
          </a:solidFill>
          <a:ln/>
        </p:spPr>
      </p:sp>
      <p:sp>
        <p:nvSpPr>
          <p:cNvPr id="6" name="Shape 4"/>
          <p:cNvSpPr/>
          <p:nvPr/>
        </p:nvSpPr>
        <p:spPr>
          <a:xfrm>
            <a:off x="9692640" y="1956816"/>
            <a:ext cx="566928" cy="566928"/>
          </a:xfrm>
          <a:prstGeom prst="ellipse">
            <a:avLst/>
          </a:prstGeom>
          <a:solidFill>
            <a:srgbClr val="F24E1E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965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7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BEGINNER-FRIENDLY WALKTHROUGH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377440"/>
            <a:ext cx="96012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Wireframe, Mock-up &amp; Reusable</a:t>
            </a:r>
            <a:endParaRPr lang="en-US" sz="42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Components in Figma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640080" y="434340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CFC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step-by-step guide for designing an E-Commerce mobile app UI — from a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CFC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gray-box wireframe to a fully styled mock-up with a reusable component library.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5349240"/>
            <a:ext cx="502920" cy="54864"/>
          </a:xfrm>
          <a:prstGeom prst="rect">
            <a:avLst/>
          </a:prstGeom>
          <a:solidFill>
            <a:srgbClr val="FF7262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5532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C8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Tool: Figma  •  Level: No prior experience needed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D26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You'll Build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E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pages, one connected design system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383280" cy="3291840"/>
          </a:xfrm>
          <a:prstGeom prst="roundRect">
            <a:avLst>
              <a:gd name="adj" fmla="val 3333"/>
            </a:avLst>
          </a:prstGeom>
          <a:solidFill>
            <a:srgbClr val="EDE7F6"/>
          </a:solidFill>
          <a:ln/>
          <a:effectLst>
            <a:outerShdw sx="100000" sy="100000" kx="0" ky="0" algn="bl" rotWithShape="0" blurRad="101600" dist="38100" dir="5400000">
              <a:srgbClr val="9C8FC2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286000"/>
            <a:ext cx="640080" cy="640080"/>
          </a:xfrm>
          <a:prstGeom prst="ellipse">
            <a:avLst/>
          </a:prstGeom>
          <a:solidFill>
            <a:srgbClr val="4527A0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286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68680" y="310896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D26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Wireframe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68680" y="356616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6E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grayscale skeleton of the app: header, search bar, product cards, and bottom navigation.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97680" y="1965960"/>
            <a:ext cx="3383280" cy="3291840"/>
          </a:xfrm>
          <a:prstGeom prst="roundRect">
            <a:avLst>
              <a:gd name="adj" fmla="val 3333"/>
            </a:avLst>
          </a:prstGeom>
          <a:solidFill>
            <a:srgbClr val="EDE7F6"/>
          </a:solidFill>
          <a:ln/>
          <a:effectLst>
            <a:outerShdw sx="100000" sy="100000" kx="0" ky="0" algn="bl" rotWithShape="0" blurRad="101600" dist="38100" dir="5400000">
              <a:srgbClr val="9C8FC2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17720" y="2286000"/>
            <a:ext cx="640080" cy="640080"/>
          </a:xfrm>
          <a:prstGeom prst="ellipse">
            <a:avLst/>
          </a:prstGeom>
          <a:solidFill>
            <a:srgbClr val="FF7262"/>
          </a:solidFill>
          <a:ln/>
        </p:spPr>
      </p:sp>
      <p:sp>
        <p:nvSpPr>
          <p:cNvPr id="11" name="Text 9"/>
          <p:cNvSpPr/>
          <p:nvPr/>
        </p:nvSpPr>
        <p:spPr>
          <a:xfrm>
            <a:off x="4617720" y="2286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617720" y="310896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D26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Mock-up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617720" y="356616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6E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wireframe brought to life with color, real images, fonts, and icons.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46720" y="1965960"/>
            <a:ext cx="3383280" cy="3291840"/>
          </a:xfrm>
          <a:prstGeom prst="roundRect">
            <a:avLst>
              <a:gd name="adj" fmla="val 3333"/>
            </a:avLst>
          </a:prstGeom>
          <a:solidFill>
            <a:srgbClr val="EDE7F6"/>
          </a:solidFill>
          <a:ln/>
          <a:effectLst>
            <a:outerShdw sx="100000" sy="100000" kx="0" ky="0" algn="bl" rotWithShape="0" blurRad="101600" dist="38100" dir="5400000">
              <a:srgbClr val="9C8FC2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66760" y="2286000"/>
            <a:ext cx="640080" cy="640080"/>
          </a:xfrm>
          <a:prstGeom prst="ellipse">
            <a:avLst/>
          </a:prstGeom>
          <a:solidFill>
            <a:srgbClr val="0ACF83"/>
          </a:solidFill>
          <a:ln/>
        </p:spPr>
      </p:sp>
      <p:sp>
        <p:nvSpPr>
          <p:cNvPr id="16" name="Text 14"/>
          <p:cNvSpPr/>
          <p:nvPr/>
        </p:nvSpPr>
        <p:spPr>
          <a:xfrm>
            <a:off x="8366760" y="2286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366760" y="310896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D26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Components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8366760" y="356616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6E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reusable library — buttons, product cards, and navigation — that update everywhere at once.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E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159752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 Wireframe &amp; Component Design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6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Getting Started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F7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1–2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02920" cy="502920"/>
          </a:xfrm>
          <a:prstGeom prst="ellipse">
            <a:avLst/>
          </a:prstGeom>
          <a:solidFill>
            <a:srgbClr val="4527A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00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34440" y="158191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6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Figma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34440" y="1947672"/>
            <a:ext cx="5852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E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Chrome or Edge, visit figma.com, click Log In, and sign in with your Google account.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807208"/>
            <a:ext cx="502920" cy="502920"/>
          </a:xfrm>
          <a:prstGeom prst="ellipse">
            <a:avLst/>
          </a:prstGeom>
          <a:solidFill>
            <a:srgbClr val="4527A0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8072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34440" y="278892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6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Reach the Dashboard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34440" y="3154680"/>
            <a:ext cx="5852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E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signed in, you land on the Figma Dashboard — your home for all projects.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014216"/>
            <a:ext cx="502920" cy="502920"/>
          </a:xfrm>
          <a:prstGeom prst="ellipse">
            <a:avLst/>
          </a:prstGeom>
          <a:solidFill>
            <a:srgbClr val="4527A0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401421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34440" y="3995928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6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 a New Design File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34440" y="4361688"/>
            <a:ext cx="5852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E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New Design File to open a blank canvas ready for your first frame.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223760" y="1600200"/>
            <a:ext cx="4389120" cy="4206240"/>
          </a:xfrm>
          <a:prstGeom prst="roundRect">
            <a:avLst>
              <a:gd name="adj" fmla="val 1739"/>
            </a:avLst>
          </a:prstGeom>
          <a:solidFill>
            <a:srgbClr val="1A1330"/>
          </a:solidFill>
          <a:ln/>
          <a:effectLst>
            <a:outerShdw sx="100000" sy="100000" kx="0" ky="0" algn="bl" rotWithShape="0" blurRad="127000" dist="38100" dir="5400000">
              <a:srgbClr val="9C8FC2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452360" y="1801368"/>
            <a:ext cx="137160" cy="13716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8" name="Shape 16"/>
          <p:cNvSpPr/>
          <p:nvPr/>
        </p:nvSpPr>
        <p:spPr>
          <a:xfrm>
            <a:off x="7708392" y="1801368"/>
            <a:ext cx="137160" cy="137160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19" name="Shape 17"/>
          <p:cNvSpPr/>
          <p:nvPr/>
        </p:nvSpPr>
        <p:spPr>
          <a:xfrm>
            <a:off x="7964424" y="1801368"/>
            <a:ext cx="137160" cy="137160"/>
          </a:xfrm>
          <a:prstGeom prst="ellipse">
            <a:avLst/>
          </a:prstGeom>
          <a:solidFill>
            <a:srgbClr val="0ACF83"/>
          </a:solidFill>
          <a:ln/>
        </p:spPr>
      </p:sp>
      <p:sp>
        <p:nvSpPr>
          <p:cNvPr id="20" name="Shape 18"/>
          <p:cNvSpPr/>
          <p:nvPr/>
        </p:nvSpPr>
        <p:spPr>
          <a:xfrm>
            <a:off x="7543800" y="2194560"/>
            <a:ext cx="3749040" cy="365760"/>
          </a:xfrm>
          <a:prstGeom prst="roundRect">
            <a:avLst>
              <a:gd name="adj" fmla="val 15000"/>
            </a:avLst>
          </a:prstGeom>
          <a:solidFill>
            <a:srgbClr val="352763"/>
          </a:solidFill>
          <a:ln/>
        </p:spPr>
      </p:sp>
      <p:sp>
        <p:nvSpPr>
          <p:cNvPr id="21" name="Text 19"/>
          <p:cNvSpPr/>
          <p:nvPr/>
        </p:nvSpPr>
        <p:spPr>
          <a:xfrm>
            <a:off x="7680960" y="21945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A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figma.com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543800" y="2788920"/>
            <a:ext cx="3749040" cy="2834640"/>
          </a:xfrm>
          <a:prstGeom prst="roundRect">
            <a:avLst>
              <a:gd name="adj" fmla="val 1935"/>
            </a:avLst>
          </a:prstGeom>
          <a:solidFill>
            <a:srgbClr val="241A47"/>
          </a:solidFill>
          <a:ln/>
        </p:spPr>
      </p:sp>
      <p:sp>
        <p:nvSpPr>
          <p:cNvPr id="23" name="Shape 21"/>
          <p:cNvSpPr/>
          <p:nvPr/>
        </p:nvSpPr>
        <p:spPr>
          <a:xfrm>
            <a:off x="7772400" y="3017520"/>
            <a:ext cx="1463040" cy="502920"/>
          </a:xfrm>
          <a:prstGeom prst="roundRect">
            <a:avLst>
              <a:gd name="adj" fmla="val 54545"/>
            </a:avLst>
          </a:prstGeom>
          <a:solidFill>
            <a:srgbClr val="4527A0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0" y="301752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In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772400" y="38862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C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Design File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772400" y="4343400"/>
            <a:ext cx="3017520" cy="1097280"/>
          </a:xfrm>
          <a:prstGeom prst="roundRect">
            <a:avLst>
              <a:gd name="adj" fmla="val 5000"/>
            </a:avLst>
          </a:prstGeom>
          <a:solidFill>
            <a:srgbClr val="352763"/>
          </a:solidFill>
          <a:ln w="19050">
            <a:solidFill>
              <a:srgbClr val="FF7262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E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159752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 Wireframe &amp; Component Design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DE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6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 Up Your Workspace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F7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3–5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52044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C8FC2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194560"/>
            <a:ext cx="502920" cy="502920"/>
          </a:xfrm>
          <a:prstGeom prst="ellipse">
            <a:avLst/>
          </a:prstGeom>
          <a:solidFill>
            <a:srgbClr val="4527A0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194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88036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6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Rename the File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3429000"/>
            <a:ext cx="2971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E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"Untitled" at the top-left and rename it to E-Commerce UI Design, then press Enter.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89120" y="1920240"/>
            <a:ext cx="352044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C8FC2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2194560"/>
            <a:ext cx="502920" cy="502920"/>
          </a:xfrm>
          <a:prstGeom prst="ellipse">
            <a:avLst/>
          </a:prstGeom>
          <a:solidFill>
            <a:srgbClr val="4527A0"/>
          </a:solidFill>
          <a:ln/>
        </p:spPr>
      </p:sp>
      <p:sp>
        <p:nvSpPr>
          <p:cNvPr id="11" name="Text 9"/>
          <p:cNvSpPr/>
          <p:nvPr/>
        </p:nvSpPr>
        <p:spPr>
          <a:xfrm>
            <a:off x="4663440" y="2194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663440" y="288036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6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Rename the Page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63440" y="3429000"/>
            <a:ext cx="2971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E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Right-click Page 1 in the left panel, select Rename, and type Wireframe.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0" y="1920240"/>
            <a:ext cx="352044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C8FC2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503920" y="2194560"/>
            <a:ext cx="502920" cy="502920"/>
          </a:xfrm>
          <a:prstGeom prst="ellipse">
            <a:avLst/>
          </a:prstGeom>
          <a:solidFill>
            <a:srgbClr val="4527A0"/>
          </a:solidFill>
          <a:ln/>
        </p:spPr>
      </p:sp>
      <p:sp>
        <p:nvSpPr>
          <p:cNvPr id="16" name="Text 14"/>
          <p:cNvSpPr/>
          <p:nvPr/>
        </p:nvSpPr>
        <p:spPr>
          <a:xfrm>
            <a:off x="8503920" y="2194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503920" y="288036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6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 a Mobile Frame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503920" y="3429000"/>
            <a:ext cx="2971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E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F for the Frame tool, choose Phone in the right panel, then select iPhone 14 to place a mobile-sized frame on the canvas.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E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Your Workspace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159752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 Wireframe &amp; Component Design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6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the Header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F7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6–7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02920" cy="502920"/>
          </a:xfrm>
          <a:prstGeom prst="ellipse">
            <a:avLst/>
          </a:prstGeom>
          <a:solidFill>
            <a:srgbClr val="4527A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91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34440" y="1673352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6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Draw the Header Bar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34440" y="2057400"/>
            <a:ext cx="5577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E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R for the Rectangle tool and draw a bar across the top of the frame. Set its fill to gray — avoid colorful backgrounds at the wireframe stage.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291840"/>
            <a:ext cx="502920" cy="502920"/>
          </a:xfrm>
          <a:prstGeom prst="ellipse">
            <a:avLst/>
          </a:prstGeom>
          <a:solidFill>
            <a:srgbClr val="4527A0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3291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34440" y="3273552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6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a Logo Placeholder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34440" y="3657600"/>
            <a:ext cx="5577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E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a small square on the left for the logo, then press L to draw two short lines beside it representing the app title.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234440" y="502920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7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everything grayscale for now — color comes later in the Mock-up stage.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589520" y="1417320"/>
            <a:ext cx="3291840" cy="4846320"/>
          </a:xfrm>
          <a:prstGeom prst="roundRect">
            <a:avLst>
              <a:gd name="adj" fmla="val 7778"/>
            </a:avLst>
          </a:prstGeom>
          <a:solidFill>
            <a:srgbClr val="F4F2FA"/>
          </a:solidFill>
          <a:ln w="19050">
            <a:solidFill>
              <a:srgbClr val="C9BE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26680" y="1554480"/>
            <a:ext cx="3017520" cy="594360"/>
          </a:xfrm>
          <a:prstGeom prst="roundRect">
            <a:avLst>
              <a:gd name="adj" fmla="val 6154"/>
            </a:avLst>
          </a:prstGeom>
          <a:solidFill>
            <a:srgbClr val="B9B0CC"/>
          </a:solidFill>
          <a:ln/>
        </p:spPr>
      </p:sp>
      <p:sp>
        <p:nvSpPr>
          <p:cNvPr id="15" name="Shape 13"/>
          <p:cNvSpPr/>
          <p:nvPr/>
        </p:nvSpPr>
        <p:spPr>
          <a:xfrm>
            <a:off x="7909560" y="1737360"/>
            <a:ext cx="256032" cy="256032"/>
          </a:xfrm>
          <a:prstGeom prst="rect">
            <a:avLst/>
          </a:prstGeom>
          <a:solidFill>
            <a:srgbClr val="8A7FA6"/>
          </a:solidFill>
          <a:ln/>
        </p:spPr>
      </p:sp>
      <p:sp>
        <p:nvSpPr>
          <p:cNvPr id="16" name="Shape 14"/>
          <p:cNvSpPr/>
          <p:nvPr/>
        </p:nvSpPr>
        <p:spPr>
          <a:xfrm>
            <a:off x="8321040" y="1783080"/>
            <a:ext cx="914400" cy="0"/>
          </a:xfrm>
          <a:prstGeom prst="line">
            <a:avLst/>
          </a:prstGeom>
          <a:noFill/>
          <a:ln w="25400">
            <a:solidFill>
              <a:srgbClr val="8A7FA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21040" y="1920240"/>
            <a:ext cx="640080" cy="0"/>
          </a:xfrm>
          <a:prstGeom prst="line">
            <a:avLst/>
          </a:prstGeom>
          <a:noFill/>
          <a:ln w="25400">
            <a:solidFill>
              <a:srgbClr val="8A7FA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89520" y="155448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E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E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Wireframe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159752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 Wireframe &amp; Component Design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DE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6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the Search Bar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F7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8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02920" cy="502920"/>
          </a:xfrm>
          <a:prstGeom prst="ellipse">
            <a:avLst/>
          </a:prstGeom>
          <a:solidFill>
            <a:srgbClr val="1ABCF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37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34440" y="171907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D26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Draw the search box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234440" y="2084832"/>
            <a:ext cx="5760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E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R and draw a long rectangle below the header. Fill it light gray.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788920"/>
            <a:ext cx="502920" cy="502920"/>
          </a:xfrm>
          <a:prstGeom prst="ellipse">
            <a:avLst/>
          </a:prstGeom>
          <a:solidFill>
            <a:srgbClr val="1ABCFE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788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34440" y="277063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D26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placeholder text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1234440" y="3136392"/>
            <a:ext cx="5760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E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T for the Text tool, click inside the box, and type Search Products.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840480"/>
            <a:ext cx="502920" cy="502920"/>
          </a:xfrm>
          <a:prstGeom prst="ellipse">
            <a:avLst/>
          </a:prstGeom>
          <a:solidFill>
            <a:srgbClr val="1ABCFE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840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34440" y="382219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D26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Soften the text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1234440" y="4187952"/>
            <a:ext cx="5760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E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the text's opacity so it reads as placeholder copy, not real input.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589520" y="1417320"/>
            <a:ext cx="3291840" cy="484632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9050">
            <a:solidFill>
              <a:srgbClr val="C9BE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26680" y="1554480"/>
            <a:ext cx="3017520" cy="548640"/>
          </a:xfrm>
          <a:prstGeom prst="roundRect">
            <a:avLst>
              <a:gd name="adj" fmla="val 6667"/>
            </a:avLst>
          </a:prstGeom>
          <a:solidFill>
            <a:srgbClr val="B9B0CC"/>
          </a:solidFill>
          <a:ln/>
        </p:spPr>
      </p:sp>
      <p:sp>
        <p:nvSpPr>
          <p:cNvPr id="18" name="Shape 16"/>
          <p:cNvSpPr/>
          <p:nvPr/>
        </p:nvSpPr>
        <p:spPr>
          <a:xfrm>
            <a:off x="7863840" y="2286000"/>
            <a:ext cx="2743200" cy="502920"/>
          </a:xfrm>
          <a:prstGeom prst="roundRect">
            <a:avLst>
              <a:gd name="adj" fmla="val 14545"/>
            </a:avLst>
          </a:prstGeom>
          <a:solidFill>
            <a:srgbClr val="E4DEF2"/>
          </a:solidFill>
          <a:ln/>
        </p:spPr>
      </p:sp>
      <p:sp>
        <p:nvSpPr>
          <p:cNvPr id="19" name="Text 17"/>
          <p:cNvSpPr/>
          <p:nvPr/>
        </p:nvSpPr>
        <p:spPr>
          <a:xfrm>
            <a:off x="8001000" y="228600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C8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Products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E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Wireframe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159752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 Wireframe &amp; Component Design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6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a Product Card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F7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9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709928"/>
            <a:ext cx="256032" cy="256032"/>
          </a:xfrm>
          <a:prstGeom prst="ellipse">
            <a:avLst/>
          </a:prstGeom>
          <a:solidFill>
            <a:srgbClr val="4527A0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691640"/>
            <a:ext cx="55778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2D2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the card outline  </a:t>
            </a:r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6E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a rectangle to hold the product's image, name, price, and button.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350008"/>
            <a:ext cx="256032" cy="256032"/>
          </a:xfrm>
          <a:prstGeom prst="ellipse">
            <a:avLst/>
          </a:prstGeom>
          <a:solidFill>
            <a:srgbClr val="4527A0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331720"/>
            <a:ext cx="55778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2D2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an image placeholder  </a:t>
            </a:r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6E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a gray rectangle inside the card to stand in for the product photo.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990088"/>
            <a:ext cx="256032" cy="256032"/>
          </a:xfrm>
          <a:prstGeom prst="ellipse">
            <a:avLst/>
          </a:prstGeom>
          <a:solidFill>
            <a:srgbClr val="4527A0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2971800"/>
            <a:ext cx="55778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2D2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product name  </a:t>
            </a:r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6E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Text tool (T) and type Product Name below the image.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630168"/>
            <a:ext cx="256032" cy="256032"/>
          </a:xfrm>
          <a:prstGeom prst="ellipse">
            <a:avLst/>
          </a:prstGeom>
          <a:solidFill>
            <a:srgbClr val="4527A0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3611880"/>
            <a:ext cx="55778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2D2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price  </a:t>
            </a:r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6E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T again and type ₹999 under the product name.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270248"/>
            <a:ext cx="256032" cy="256032"/>
          </a:xfrm>
          <a:prstGeom prst="ellipse">
            <a:avLst/>
          </a:prstGeom>
          <a:solidFill>
            <a:srgbClr val="4527A0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4251960"/>
            <a:ext cx="55778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2D2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button placeholder  </a:t>
            </a:r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6E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one more rectangle and type Button — keep it grayscale for now.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589520" y="1463040"/>
            <a:ext cx="3566160" cy="4206240"/>
          </a:xfrm>
          <a:prstGeom prst="roundRect">
            <a:avLst>
              <a:gd name="adj" fmla="val 2564"/>
            </a:avLst>
          </a:prstGeom>
          <a:solidFill>
            <a:srgbClr val="EDE7F6"/>
          </a:solidFill>
          <a:ln w="12700">
            <a:solidFill>
              <a:srgbClr val="C9BEE8"/>
            </a:solidFill>
            <a:prstDash val="solid"/>
          </a:ln>
          <a:effectLst>
            <a:outerShdw sx="100000" sy="100000" kx="0" ky="0" algn="bl" rotWithShape="0" blurRad="101600" dist="38100" dir="5400000">
              <a:srgbClr val="9C8FC2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818120" y="1691640"/>
            <a:ext cx="3108960" cy="2286000"/>
          </a:xfrm>
          <a:prstGeom prst="roundRect">
            <a:avLst>
              <a:gd name="adj" fmla="val 2400"/>
            </a:avLst>
          </a:prstGeom>
          <a:solidFill>
            <a:srgbClr val="C9BEE8"/>
          </a:solidFill>
          <a:ln/>
        </p:spPr>
      </p:sp>
      <p:sp>
        <p:nvSpPr>
          <p:cNvPr id="16" name="Text 14"/>
          <p:cNvSpPr/>
          <p:nvPr/>
        </p:nvSpPr>
        <p:spPr>
          <a:xfrm>
            <a:off x="7818120" y="1691640"/>
            <a:ext cx="31089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818120" y="41148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Name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818120" y="44805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₹999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818120" y="4937760"/>
            <a:ext cx="3108960" cy="502920"/>
          </a:xfrm>
          <a:prstGeom prst="roundRect">
            <a:avLst>
              <a:gd name="adj" fmla="val 10909"/>
            </a:avLst>
          </a:prstGeom>
          <a:solidFill>
            <a:srgbClr val="B9B0CC"/>
          </a:solidFill>
          <a:ln/>
        </p:spPr>
      </p:sp>
      <p:sp>
        <p:nvSpPr>
          <p:cNvPr id="20" name="Text 18"/>
          <p:cNvSpPr/>
          <p:nvPr/>
        </p:nvSpPr>
        <p:spPr>
          <a:xfrm>
            <a:off x="7818120" y="493776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E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Wireframe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159752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 Wireframe &amp; Component Design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DE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26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Duplicate &amp; Complete the Layout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F7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10–11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02920" cy="502920"/>
          </a:xfrm>
          <a:prstGeom prst="ellipse">
            <a:avLst/>
          </a:prstGeom>
          <a:solidFill>
            <a:srgbClr val="4527A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91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34440" y="1673352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6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Duplicate the Product Card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34440" y="205740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E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the whole card and press Ctrl+G to group it. Press Ctrl+D three times to duplicate it, then arrange the four cards into a two-column grid.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1234440" y="3017520"/>
            <a:ext cx="77724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C9BE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194560" y="3017520"/>
            <a:ext cx="77724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C9BE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34440" y="3794760"/>
            <a:ext cx="77724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C9BE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194560" y="3794760"/>
            <a:ext cx="77724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C9BE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4709160"/>
            <a:ext cx="502920" cy="502920"/>
          </a:xfrm>
          <a:prstGeom prst="ellipse">
            <a:avLst/>
          </a:prstGeom>
          <a:solidFill>
            <a:srgbClr val="4527A0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4709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34440" y="469087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6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 the Bottom Navigation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34440" y="5074920"/>
            <a:ext cx="5577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E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one long rectangle across the bottom, then add four small placeholders inside for Home, Search, Cart, and Profile. The wireframe is complete!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680960" y="1371600"/>
            <a:ext cx="3291840" cy="49377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9050">
            <a:solidFill>
              <a:srgbClr val="C9BEE8"/>
            </a:solidFill>
            <a:prstDash val="solid"/>
          </a:ln>
          <a:effectLst>
            <a:outerShdw sx="100000" sy="100000" kx="0" ky="0" algn="bl" rotWithShape="0" blurRad="101600" dist="38100" dir="5400000">
              <a:srgbClr val="9C8FC2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818120" y="1508760"/>
            <a:ext cx="3017520" cy="457200"/>
          </a:xfrm>
          <a:prstGeom prst="roundRect">
            <a:avLst>
              <a:gd name="adj" fmla="val 8000"/>
            </a:avLst>
          </a:prstGeom>
          <a:solidFill>
            <a:srgbClr val="B9B0CC"/>
          </a:solidFill>
          <a:ln/>
        </p:spPr>
      </p:sp>
      <p:sp>
        <p:nvSpPr>
          <p:cNvPr id="18" name="Shape 16"/>
          <p:cNvSpPr/>
          <p:nvPr/>
        </p:nvSpPr>
        <p:spPr>
          <a:xfrm>
            <a:off x="7818120" y="2057400"/>
            <a:ext cx="3017520" cy="365760"/>
          </a:xfrm>
          <a:prstGeom prst="roundRect">
            <a:avLst>
              <a:gd name="adj" fmla="val 15000"/>
            </a:avLst>
          </a:prstGeom>
          <a:solidFill>
            <a:srgbClr val="E4DEF2"/>
          </a:solidFill>
          <a:ln/>
        </p:spPr>
      </p:sp>
      <p:sp>
        <p:nvSpPr>
          <p:cNvPr id="19" name="Shape 17"/>
          <p:cNvSpPr/>
          <p:nvPr/>
        </p:nvSpPr>
        <p:spPr>
          <a:xfrm>
            <a:off x="7818120" y="2514600"/>
            <a:ext cx="1440180" cy="1417320"/>
          </a:xfrm>
          <a:prstGeom prst="roundRect">
            <a:avLst>
              <a:gd name="adj" fmla="val 3226"/>
            </a:avLst>
          </a:prstGeom>
          <a:solidFill>
            <a:srgbClr val="F4F2FA"/>
          </a:solidFill>
          <a:ln w="12700">
            <a:solidFill>
              <a:srgbClr val="D9D0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395460" y="2514600"/>
            <a:ext cx="1440180" cy="1417320"/>
          </a:xfrm>
          <a:prstGeom prst="roundRect">
            <a:avLst>
              <a:gd name="adj" fmla="val 3226"/>
            </a:avLst>
          </a:prstGeom>
          <a:solidFill>
            <a:srgbClr val="F4F2FA"/>
          </a:solidFill>
          <a:ln w="12700">
            <a:solidFill>
              <a:srgbClr val="D9D0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818120" y="4069080"/>
            <a:ext cx="1440180" cy="1417320"/>
          </a:xfrm>
          <a:prstGeom prst="roundRect">
            <a:avLst>
              <a:gd name="adj" fmla="val 3226"/>
            </a:avLst>
          </a:prstGeom>
          <a:solidFill>
            <a:srgbClr val="F4F2FA"/>
          </a:solidFill>
          <a:ln w="12700">
            <a:solidFill>
              <a:srgbClr val="D9D0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395460" y="4069080"/>
            <a:ext cx="1440180" cy="1417320"/>
          </a:xfrm>
          <a:prstGeom prst="roundRect">
            <a:avLst>
              <a:gd name="adj" fmla="val 3226"/>
            </a:avLst>
          </a:prstGeom>
          <a:solidFill>
            <a:srgbClr val="F4F2FA"/>
          </a:solidFill>
          <a:ln w="12700">
            <a:solidFill>
              <a:srgbClr val="D9D0E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818120" y="5715000"/>
            <a:ext cx="3017520" cy="457200"/>
          </a:xfrm>
          <a:prstGeom prst="roundRect">
            <a:avLst>
              <a:gd name="adj" fmla="val 8000"/>
            </a:avLst>
          </a:prstGeom>
          <a:solidFill>
            <a:srgbClr val="B9B0CC"/>
          </a:solidFill>
          <a:ln/>
        </p:spPr>
      </p:sp>
      <p:sp>
        <p:nvSpPr>
          <p:cNvPr id="24" name="Shape 22"/>
          <p:cNvSpPr/>
          <p:nvPr/>
        </p:nvSpPr>
        <p:spPr>
          <a:xfrm>
            <a:off x="8092440" y="5852160"/>
            <a:ext cx="182880" cy="182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Shape 23"/>
          <p:cNvSpPr/>
          <p:nvPr/>
        </p:nvSpPr>
        <p:spPr>
          <a:xfrm>
            <a:off x="8750808" y="5852160"/>
            <a:ext cx="182880" cy="182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Shape 24"/>
          <p:cNvSpPr/>
          <p:nvPr/>
        </p:nvSpPr>
        <p:spPr>
          <a:xfrm>
            <a:off x="9409176" y="5852160"/>
            <a:ext cx="182880" cy="182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Shape 25"/>
          <p:cNvSpPr/>
          <p:nvPr/>
        </p:nvSpPr>
        <p:spPr>
          <a:xfrm>
            <a:off x="10067544" y="5852160"/>
            <a:ext cx="182880" cy="182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E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Wireframe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159752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 Wireframe &amp; Component Design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3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 the Mock-up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F7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12–13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02920" cy="502920"/>
          </a:xfrm>
          <a:prstGeom prst="ellipse">
            <a:avLst/>
          </a:prstGeom>
          <a:solidFill>
            <a:srgbClr val="FF726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34440" y="1810512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 a Second Page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234440" y="2212848"/>
            <a:ext cx="5852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CFC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left panel, right-click Pages, select Add Page, and rename it Mockup.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520440"/>
            <a:ext cx="502920" cy="502920"/>
          </a:xfrm>
          <a:prstGeom prst="ellipse">
            <a:avLst/>
          </a:prstGeom>
          <a:solidFill>
            <a:srgbClr val="FF7262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3520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34440" y="3502152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Copy the Wireframe Across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234440" y="3904488"/>
            <a:ext cx="5852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CFC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Wireframe page, press Ctrl+A to select everything, Ctrl+C to copy, then switch to the Mockup page and press Ctrl+V to paste.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589520" y="1737360"/>
            <a:ext cx="1920240" cy="3566160"/>
          </a:xfrm>
          <a:prstGeom prst="roundRect">
            <a:avLst>
              <a:gd name="adj" fmla="val 7619"/>
            </a:avLst>
          </a:prstGeom>
          <a:solidFill>
            <a:srgbClr val="352763"/>
          </a:solidFill>
          <a:ln w="12700">
            <a:solidFill>
              <a:srgbClr val="5A4A8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89520" y="53949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8A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Wireframe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772400" y="1920240"/>
            <a:ext cx="1554480" cy="365760"/>
          </a:xfrm>
          <a:prstGeom prst="roundRect">
            <a:avLst>
              <a:gd name="adj" fmla="val 10000"/>
            </a:avLst>
          </a:prstGeom>
          <a:solidFill>
            <a:srgbClr val="6E6580"/>
          </a:solidFill>
          <a:ln/>
        </p:spPr>
      </p:sp>
      <p:sp>
        <p:nvSpPr>
          <p:cNvPr id="15" name="Shape 13"/>
          <p:cNvSpPr/>
          <p:nvPr/>
        </p:nvSpPr>
        <p:spPr>
          <a:xfrm>
            <a:off x="7772400" y="2423160"/>
            <a:ext cx="1554480" cy="274320"/>
          </a:xfrm>
          <a:prstGeom prst="roundRect">
            <a:avLst>
              <a:gd name="adj" fmla="val 13333"/>
            </a:avLst>
          </a:prstGeom>
          <a:solidFill>
            <a:srgbClr val="554A73"/>
          </a:solidFill>
          <a:ln/>
        </p:spPr>
      </p:sp>
      <p:sp>
        <p:nvSpPr>
          <p:cNvPr id="16" name="Shape 14"/>
          <p:cNvSpPr/>
          <p:nvPr/>
        </p:nvSpPr>
        <p:spPr>
          <a:xfrm>
            <a:off x="7772400" y="2834640"/>
            <a:ext cx="1554480" cy="1463040"/>
          </a:xfrm>
          <a:prstGeom prst="roundRect">
            <a:avLst>
              <a:gd name="adj" fmla="val 2500"/>
            </a:avLst>
          </a:prstGeom>
          <a:solidFill>
            <a:srgbClr val="554A73"/>
          </a:solidFill>
          <a:ln/>
        </p:spPr>
      </p:sp>
      <p:sp>
        <p:nvSpPr>
          <p:cNvPr id="17" name="Shape 15"/>
          <p:cNvSpPr/>
          <p:nvPr/>
        </p:nvSpPr>
        <p:spPr>
          <a:xfrm>
            <a:off x="9646920" y="3337560"/>
            <a:ext cx="640080" cy="365760"/>
          </a:xfrm>
          <a:prstGeom prst="rightArrow">
            <a:avLst/>
          </a:prstGeom>
          <a:solidFill>
            <a:srgbClr val="FF7262"/>
          </a:solidFill>
          <a:ln/>
        </p:spPr>
      </p:sp>
      <p:sp>
        <p:nvSpPr>
          <p:cNvPr id="18" name="Shape 16"/>
          <p:cNvSpPr/>
          <p:nvPr/>
        </p:nvSpPr>
        <p:spPr>
          <a:xfrm>
            <a:off x="10424160" y="1737360"/>
            <a:ext cx="1920240" cy="356616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C9BE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424160" y="53949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8A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Mockup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0607040" y="1920240"/>
            <a:ext cx="1554480" cy="365760"/>
          </a:xfrm>
          <a:prstGeom prst="roundRect">
            <a:avLst>
              <a:gd name="adj" fmla="val 10000"/>
            </a:avLst>
          </a:prstGeom>
          <a:solidFill>
            <a:srgbClr val="6E6580"/>
          </a:solidFill>
          <a:ln/>
        </p:spPr>
      </p:sp>
      <p:sp>
        <p:nvSpPr>
          <p:cNvPr id="21" name="Shape 19"/>
          <p:cNvSpPr/>
          <p:nvPr/>
        </p:nvSpPr>
        <p:spPr>
          <a:xfrm>
            <a:off x="10607040" y="2423160"/>
            <a:ext cx="1554480" cy="274320"/>
          </a:xfrm>
          <a:prstGeom prst="roundRect">
            <a:avLst>
              <a:gd name="adj" fmla="val 13333"/>
            </a:avLst>
          </a:prstGeom>
          <a:solidFill>
            <a:srgbClr val="E4DEF2"/>
          </a:solidFill>
          <a:ln/>
        </p:spPr>
      </p:sp>
      <p:sp>
        <p:nvSpPr>
          <p:cNvPr id="22" name="Shape 20"/>
          <p:cNvSpPr/>
          <p:nvPr/>
        </p:nvSpPr>
        <p:spPr>
          <a:xfrm>
            <a:off x="10607040" y="2834640"/>
            <a:ext cx="1554480" cy="1463040"/>
          </a:xfrm>
          <a:prstGeom prst="roundRect">
            <a:avLst>
              <a:gd name="adj" fmla="val 2500"/>
            </a:avLst>
          </a:prstGeom>
          <a:solidFill>
            <a:srgbClr val="E4DEF2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8A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to the Mock-up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159752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A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 Wireframe &amp; Component Design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6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Bring It to Life with Color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F7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14–17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606040" cy="3840480"/>
          </a:xfrm>
          <a:prstGeom prst="roundRect">
            <a:avLst>
              <a:gd name="adj" fmla="val 3509"/>
            </a:avLst>
          </a:prstGeom>
          <a:solidFill>
            <a:srgbClr val="EDE7F6"/>
          </a:solidFill>
          <a:ln/>
          <a:effectLst>
            <a:outerShdw sx="100000" sy="100000" kx="0" ky="0" algn="bl" rotWithShape="0" blurRad="76200" dist="25400" dir="5400000">
              <a:srgbClr val="9C8FC2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148840"/>
            <a:ext cx="502920" cy="502920"/>
          </a:xfrm>
          <a:prstGeom prst="ellipse">
            <a:avLst/>
          </a:prstGeom>
          <a:solidFill>
            <a:srgbClr val="1ABCFE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148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278892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D26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Colors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77240" y="3291840"/>
            <a:ext cx="21488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6E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 → Blue, Button → Green, Background → White.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83280" y="1920240"/>
            <a:ext cx="2606040" cy="3840480"/>
          </a:xfrm>
          <a:prstGeom prst="roundRect">
            <a:avLst>
              <a:gd name="adj" fmla="val 3509"/>
            </a:avLst>
          </a:prstGeom>
          <a:solidFill>
            <a:srgbClr val="EDE7F6"/>
          </a:solidFill>
          <a:ln/>
          <a:effectLst>
            <a:outerShdw sx="100000" sy="100000" kx="0" ky="0" algn="bl" rotWithShape="0" blurRad="76200" dist="25400" dir="5400000">
              <a:srgbClr val="9C8FC2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11880" y="2148840"/>
            <a:ext cx="502920" cy="502920"/>
          </a:xfrm>
          <a:prstGeom prst="ellipse">
            <a:avLst/>
          </a:prstGeom>
          <a:solidFill>
            <a:srgbClr val="4527A0"/>
          </a:solidFill>
          <a:ln/>
        </p:spPr>
      </p:sp>
      <p:sp>
        <p:nvSpPr>
          <p:cNvPr id="11" name="Text 9"/>
          <p:cNvSpPr/>
          <p:nvPr/>
        </p:nvSpPr>
        <p:spPr>
          <a:xfrm>
            <a:off x="3611880" y="2148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611880" y="278892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D26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Product Images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3611880" y="3291840"/>
            <a:ext cx="21488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6E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Plugins, search Unsplash or Pexels, and insert real photos (shoes, laptop, mobile, watch) to replace the gray boxes.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1920240"/>
            <a:ext cx="2606040" cy="3840480"/>
          </a:xfrm>
          <a:prstGeom prst="roundRect">
            <a:avLst>
              <a:gd name="adj" fmla="val 3509"/>
            </a:avLst>
          </a:prstGeom>
          <a:solidFill>
            <a:srgbClr val="EDE7F6"/>
          </a:solidFill>
          <a:ln/>
          <a:effectLst>
            <a:outerShdw sx="100000" sy="100000" kx="0" ky="0" algn="bl" rotWithShape="0" blurRad="76200" dist="25400" dir="5400000">
              <a:srgbClr val="9C8FC2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46520" y="2148840"/>
            <a:ext cx="502920" cy="502920"/>
          </a:xfrm>
          <a:prstGeom prst="ellipse">
            <a:avLst/>
          </a:prstGeom>
          <a:solidFill>
            <a:srgbClr val="FF7262"/>
          </a:solidFill>
          <a:ln/>
        </p:spPr>
      </p:sp>
      <p:sp>
        <p:nvSpPr>
          <p:cNvPr id="16" name="Text 14"/>
          <p:cNvSpPr/>
          <p:nvPr/>
        </p:nvSpPr>
        <p:spPr>
          <a:xfrm>
            <a:off x="6446520" y="2148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46520" y="278892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D26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Change Fonts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446520" y="3291840"/>
            <a:ext cx="21488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6E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Name → Inter or Poppins, 16px Bold. Price → Green, 18px.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052560" y="1920240"/>
            <a:ext cx="2606040" cy="3840480"/>
          </a:xfrm>
          <a:prstGeom prst="roundRect">
            <a:avLst>
              <a:gd name="adj" fmla="val 3509"/>
            </a:avLst>
          </a:prstGeom>
          <a:solidFill>
            <a:srgbClr val="EDE7F6"/>
          </a:solidFill>
          <a:ln/>
          <a:effectLst>
            <a:outerShdw sx="100000" sy="100000" kx="0" ky="0" algn="bl" rotWithShape="0" blurRad="76200" dist="25400" dir="5400000">
              <a:srgbClr val="9C8FC2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281160" y="2148840"/>
            <a:ext cx="502920" cy="502920"/>
          </a:xfrm>
          <a:prstGeom prst="ellipse">
            <a:avLst/>
          </a:prstGeom>
          <a:solidFill>
            <a:srgbClr val="0ACF83"/>
          </a:solidFill>
          <a:ln/>
        </p:spPr>
      </p:sp>
      <p:sp>
        <p:nvSpPr>
          <p:cNvPr id="21" name="Text 19"/>
          <p:cNvSpPr/>
          <p:nvPr/>
        </p:nvSpPr>
        <p:spPr>
          <a:xfrm>
            <a:off x="9281160" y="2148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281160" y="278892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D26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Insert Icons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9281160" y="3291840"/>
            <a:ext cx="21488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6E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Plugins → Iconify, search home / cart / search / person, and drop icons into the navigation bar.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E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Styling the Mock-up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159752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 Wireframe &amp; Component Design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DE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26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Reusable Components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F7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18–20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02920" cy="502920"/>
          </a:xfrm>
          <a:prstGeom prst="ellipse">
            <a:avLst/>
          </a:prstGeom>
          <a:solidFill>
            <a:srgbClr val="4527A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83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34440" y="1764792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D26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 the Button Component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234440" y="2130552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E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a rectangle, type Add to Cart, select both, and press Ctrl+Alt+K (or right-click → Create Component). A purple outline appears — rename it Button / Primary.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990088"/>
            <a:ext cx="502920" cy="502920"/>
          </a:xfrm>
          <a:prstGeom prst="ellipse">
            <a:avLst/>
          </a:prstGeom>
          <a:solidFill>
            <a:srgbClr val="4527A0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9900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34440" y="297180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D26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Apply Auto Layout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1234440" y="333756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E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the button and press Shift+A. Set padding to 20px left/right and 10px top/bottom. Change the label to Buy Now and watch the button resize automatically.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197096"/>
            <a:ext cx="502920" cy="502920"/>
          </a:xfrm>
          <a:prstGeom prst="ellipse">
            <a:avLst/>
          </a:prstGeom>
          <a:solidFill>
            <a:srgbClr val="4527A0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419709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34440" y="4178808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D26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 Button Instances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1234440" y="4544568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E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Assets, find Button / Primary, and drag it onto the canvas twice. Relabel the copies Buy Now and Wishlist — both stay perfectly in sync with the main component.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234440" y="5486400"/>
            <a:ext cx="1554480" cy="457200"/>
          </a:xfrm>
          <a:prstGeom prst="roundRect">
            <a:avLst>
              <a:gd name="adj" fmla="val 50000"/>
            </a:avLst>
          </a:prstGeom>
          <a:solidFill>
            <a:srgbClr val="0ACF83"/>
          </a:solidFill>
          <a:ln w="19050">
            <a:solidFill>
              <a:srgbClr val="A259FF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234440" y="548640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Now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234440" y="598932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E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component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91840" y="5486400"/>
            <a:ext cx="1554480" cy="457200"/>
          </a:xfrm>
          <a:prstGeom prst="roundRect">
            <a:avLst>
              <a:gd name="adj" fmla="val 50000"/>
            </a:avLst>
          </a:prstGeom>
          <a:solidFill>
            <a:srgbClr val="0ACF83"/>
          </a:solidFill>
          <a:ln/>
        </p:spPr>
      </p:sp>
      <p:sp>
        <p:nvSpPr>
          <p:cNvPr id="20" name="Text 18"/>
          <p:cNvSpPr/>
          <p:nvPr/>
        </p:nvSpPr>
        <p:spPr>
          <a:xfrm>
            <a:off x="3291840" y="548640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Now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291840" y="598932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E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120640" y="5486400"/>
            <a:ext cx="1554480" cy="457200"/>
          </a:xfrm>
          <a:prstGeom prst="roundRect">
            <a:avLst>
              <a:gd name="adj" fmla="val 50000"/>
            </a:avLst>
          </a:prstGeom>
          <a:solidFill>
            <a:srgbClr val="0ACF83"/>
          </a:solidFill>
          <a:ln/>
        </p:spPr>
      </p:sp>
      <p:sp>
        <p:nvSpPr>
          <p:cNvPr id="23" name="Text 21"/>
          <p:cNvSpPr/>
          <p:nvPr/>
        </p:nvSpPr>
        <p:spPr>
          <a:xfrm>
            <a:off x="5120640" y="548640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Wishlist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120640" y="598932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E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E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Design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159752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 Wireframe &amp; Component Design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26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Assemble the Component Library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F7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21–24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606040" cy="3931920"/>
          </a:xfrm>
          <a:prstGeom prst="roundRect">
            <a:avLst>
              <a:gd name="adj" fmla="val 3509"/>
            </a:avLst>
          </a:prstGeom>
          <a:solidFill>
            <a:srgbClr val="EDE7F6"/>
          </a:solidFill>
          <a:ln/>
          <a:effectLst>
            <a:outerShdw sx="100000" sy="100000" kx="0" ky="0" algn="bl" rotWithShape="0" blurRad="76200" dist="25400" dir="5400000">
              <a:srgbClr val="9C8FC2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103120"/>
            <a:ext cx="502920" cy="502920"/>
          </a:xfrm>
          <a:prstGeom prst="ellipse">
            <a:avLst/>
          </a:prstGeom>
          <a:solidFill>
            <a:srgbClr val="4527A0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103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274320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D26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Card Component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77240" y="3383280"/>
            <a:ext cx="21488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80" dirty="0">
                <a:solidFill>
                  <a:srgbClr val="6E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the image, name, price, and button together, create a component, rename it Product Card, then apply Auto Layout (Shift+A).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3383280" y="1874520"/>
            <a:ext cx="2606040" cy="3931920"/>
          </a:xfrm>
          <a:prstGeom prst="roundRect">
            <a:avLst>
              <a:gd name="adj" fmla="val 3509"/>
            </a:avLst>
          </a:prstGeom>
          <a:solidFill>
            <a:srgbClr val="EDE7F6"/>
          </a:solidFill>
          <a:ln/>
          <a:effectLst>
            <a:outerShdw sx="100000" sy="100000" kx="0" ky="0" algn="bl" rotWithShape="0" blurRad="76200" dist="25400" dir="5400000">
              <a:srgbClr val="9C8FC2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11880" y="2103120"/>
            <a:ext cx="502920" cy="502920"/>
          </a:xfrm>
          <a:prstGeom prst="ellipse">
            <a:avLst/>
          </a:prstGeom>
          <a:solidFill>
            <a:srgbClr val="4527A0"/>
          </a:solidFill>
          <a:ln/>
        </p:spPr>
      </p:sp>
      <p:sp>
        <p:nvSpPr>
          <p:cNvPr id="11" name="Text 9"/>
          <p:cNvSpPr/>
          <p:nvPr/>
        </p:nvSpPr>
        <p:spPr>
          <a:xfrm>
            <a:off x="3611880" y="2103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611880" y="274320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D26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Multiple Product Cards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611880" y="3383280"/>
            <a:ext cx="21488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80" dirty="0">
                <a:solidFill>
                  <a:srgbClr val="6E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Assets, drag Product Card four times, and arrange the instances into a two-column grid.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6217920" y="1874520"/>
            <a:ext cx="2606040" cy="3931920"/>
          </a:xfrm>
          <a:prstGeom prst="roundRect">
            <a:avLst>
              <a:gd name="adj" fmla="val 3509"/>
            </a:avLst>
          </a:prstGeom>
          <a:solidFill>
            <a:srgbClr val="EDE7F6"/>
          </a:solidFill>
          <a:ln/>
          <a:effectLst>
            <a:outerShdw sx="100000" sy="100000" kx="0" ky="0" algn="bl" rotWithShape="0" blurRad="76200" dist="25400" dir="5400000">
              <a:srgbClr val="9C8FC2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46520" y="2103120"/>
            <a:ext cx="502920" cy="502920"/>
          </a:xfrm>
          <a:prstGeom prst="ellipse">
            <a:avLst/>
          </a:prstGeom>
          <a:solidFill>
            <a:srgbClr val="4527A0"/>
          </a:solidFill>
          <a:ln/>
        </p:spPr>
      </p:sp>
      <p:sp>
        <p:nvSpPr>
          <p:cNvPr id="16" name="Text 14"/>
          <p:cNvSpPr/>
          <p:nvPr/>
        </p:nvSpPr>
        <p:spPr>
          <a:xfrm>
            <a:off x="6446520" y="2103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46520" y="274320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D26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Navigation Component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446520" y="3383280"/>
            <a:ext cx="21488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80" dirty="0">
                <a:solidFill>
                  <a:srgbClr val="6E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the full bottom navigation bar, create a component, and rename it Bottom Navigation.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9052560" y="1874520"/>
            <a:ext cx="2606040" cy="3931920"/>
          </a:xfrm>
          <a:prstGeom prst="roundRect">
            <a:avLst>
              <a:gd name="adj" fmla="val 3509"/>
            </a:avLst>
          </a:prstGeom>
          <a:solidFill>
            <a:srgbClr val="EDE7F6"/>
          </a:solidFill>
          <a:ln/>
          <a:effectLst>
            <a:outerShdw sx="100000" sy="100000" kx="0" ky="0" algn="bl" rotWithShape="0" blurRad="76200" dist="25400" dir="5400000">
              <a:srgbClr val="9C8FC2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281160" y="2103120"/>
            <a:ext cx="502920" cy="502920"/>
          </a:xfrm>
          <a:prstGeom prst="ellipse">
            <a:avLst/>
          </a:prstGeom>
          <a:solidFill>
            <a:srgbClr val="4527A0"/>
          </a:solidFill>
          <a:ln/>
        </p:spPr>
      </p:sp>
      <p:sp>
        <p:nvSpPr>
          <p:cNvPr id="21" name="Text 19"/>
          <p:cNvSpPr/>
          <p:nvPr/>
        </p:nvSpPr>
        <p:spPr>
          <a:xfrm>
            <a:off x="9281160" y="2103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281160" y="274320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D26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Components Page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9281160" y="3383280"/>
            <a:ext cx="21488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80" dirty="0">
                <a:solidFill>
                  <a:srgbClr val="6E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new page named Components, then copy the Button, Product Card, and Bottom Navigation into it — your reusable design library.</a:t>
            </a:r>
            <a:endParaRPr lang="en-US" sz="108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E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Design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159752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 Wireframe &amp; Component Design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3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the Components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2471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F7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486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CFC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Components page, select the Button / Primary main component and change its background from Blue to Green, and its corner radius from 8px to 16px.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2788920"/>
            <a:ext cx="5486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CFC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to the Mockup page — every instance of the button updates automatically. That's the power of reusable components.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3977640"/>
            <a:ext cx="502920" cy="54864"/>
          </a:xfrm>
          <a:prstGeom prst="roundRect">
            <a:avLst/>
          </a:prstGeom>
          <a:solidFill>
            <a:srgbClr val="FF7262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41605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F7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one edit, propagated everywhere the component is used.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949440" y="13716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8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949440" y="1737360"/>
            <a:ext cx="1737360" cy="548640"/>
          </a:xfrm>
          <a:prstGeom prst="roundRect">
            <a:avLst>
              <a:gd name="adj" fmla="val 10000"/>
            </a:avLst>
          </a:prstGeom>
          <a:solidFill>
            <a:srgbClr val="1ABCFE"/>
          </a:solidFill>
          <a:ln/>
        </p:spPr>
      </p:sp>
      <p:sp>
        <p:nvSpPr>
          <p:cNvPr id="10" name="Text 8"/>
          <p:cNvSpPr/>
          <p:nvPr/>
        </p:nvSpPr>
        <p:spPr>
          <a:xfrm>
            <a:off x="6949440" y="173736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to Cart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915400" y="1847088"/>
            <a:ext cx="548640" cy="329184"/>
          </a:xfrm>
          <a:prstGeom prst="rightArrow">
            <a:avLst/>
          </a:prstGeom>
          <a:solidFill>
            <a:srgbClr val="FF7262"/>
          </a:solidFill>
          <a:ln/>
        </p:spPr>
      </p:sp>
      <p:sp>
        <p:nvSpPr>
          <p:cNvPr id="12" name="Text 10"/>
          <p:cNvSpPr/>
          <p:nvPr/>
        </p:nvSpPr>
        <p:spPr>
          <a:xfrm>
            <a:off x="9692640" y="13716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8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692640" y="1737360"/>
            <a:ext cx="1737360" cy="548640"/>
          </a:xfrm>
          <a:prstGeom prst="roundRect">
            <a:avLst>
              <a:gd name="adj" fmla="val 23333"/>
            </a:avLst>
          </a:prstGeom>
          <a:solidFill>
            <a:srgbClr val="0ACF83"/>
          </a:solidFill>
          <a:ln/>
        </p:spPr>
      </p:sp>
      <p:sp>
        <p:nvSpPr>
          <p:cNvPr id="14" name="Text 12"/>
          <p:cNvSpPr/>
          <p:nvPr/>
        </p:nvSpPr>
        <p:spPr>
          <a:xfrm>
            <a:off x="9692640" y="173736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to Cart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949440" y="2834640"/>
            <a:ext cx="3291840" cy="2651760"/>
          </a:xfrm>
          <a:prstGeom prst="roundRect">
            <a:avLst>
              <a:gd name="adj" fmla="val 4138"/>
            </a:avLst>
          </a:prstGeom>
          <a:solidFill>
            <a:srgbClr val="241A47"/>
          </a:solidFill>
          <a:ln w="12700">
            <a:solidFill>
              <a:srgbClr val="3F2E7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23760" y="30632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Matters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223760" y="3566160"/>
            <a:ext cx="91440" cy="91440"/>
          </a:xfrm>
          <a:prstGeom prst="ellipse">
            <a:avLst/>
          </a:prstGeom>
          <a:solidFill>
            <a:srgbClr val="FF7262"/>
          </a:solidFill>
          <a:ln/>
        </p:spPr>
      </p:sp>
      <p:sp>
        <p:nvSpPr>
          <p:cNvPr id="18" name="Text 16"/>
          <p:cNvSpPr/>
          <p:nvPr/>
        </p:nvSpPr>
        <p:spPr>
          <a:xfrm>
            <a:off x="7452360" y="349300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FC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 across every screen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223760" y="4069080"/>
            <a:ext cx="91440" cy="91440"/>
          </a:xfrm>
          <a:prstGeom prst="ellipse">
            <a:avLst/>
          </a:prstGeom>
          <a:solidFill>
            <a:srgbClr val="FF7262"/>
          </a:solidFill>
          <a:ln/>
        </p:spPr>
      </p:sp>
      <p:sp>
        <p:nvSpPr>
          <p:cNvPr id="20" name="Text 18"/>
          <p:cNvSpPr/>
          <p:nvPr/>
        </p:nvSpPr>
        <p:spPr>
          <a:xfrm>
            <a:off x="7452360" y="399592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FC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source of truth for design changes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223760" y="4572000"/>
            <a:ext cx="91440" cy="91440"/>
          </a:xfrm>
          <a:prstGeom prst="ellipse">
            <a:avLst/>
          </a:prstGeom>
          <a:solidFill>
            <a:srgbClr val="FF7262"/>
          </a:solidFill>
          <a:ln/>
        </p:spPr>
      </p:sp>
      <p:sp>
        <p:nvSpPr>
          <p:cNvPr id="22" name="Text 20"/>
          <p:cNvSpPr/>
          <p:nvPr/>
        </p:nvSpPr>
        <p:spPr>
          <a:xfrm>
            <a:off x="7452360" y="449884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FC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iteration for real product teams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8A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159752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A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 Wireframe &amp; Component Design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2026-07-17T06:03:19Z</dcterms:created>
  <dcterms:modified xsi:type="dcterms:W3CDTF">2026-07-17T06:03:19Z</dcterms:modified>
</cp:coreProperties>
</file>